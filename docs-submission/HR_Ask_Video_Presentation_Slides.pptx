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e9c5ad077c46c2" /><Relationship Type="http://schemas.openxmlformats.org/officeDocument/2006/relationships/extended-properties" Target="/docProps/app.xml" Id="R00041a82a45e4bd6" /><Relationship Type="http://schemas.openxmlformats.org/officeDocument/2006/relationships/officeDocument" Target="/ppt/presentation.xml" Id="Ra312cc5c311f45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e15bbdf4ec84983"/>
  </p:sldMasterIdLst>
  <p:notesMasterIdLst>
    <p:notesMasterId xmlns:r="http://schemas.openxmlformats.org/officeDocument/2006/relationships" r:id="R4193b810d32c4571"/>
  </p:notesMasterIdLst>
  <p:sldIdLst>
    <p:sldId xmlns:r="http://schemas.openxmlformats.org/officeDocument/2006/relationships" id="256" r:id="Ref608db7b4b74999"/>
    <p:sldId xmlns:r="http://schemas.openxmlformats.org/officeDocument/2006/relationships" id="257" r:id="Rc88d71ca92f74045"/>
    <p:sldId xmlns:r="http://schemas.openxmlformats.org/officeDocument/2006/relationships" id="258" r:id="Raa14640ca30e4857"/>
    <p:sldId xmlns:r="http://schemas.openxmlformats.org/officeDocument/2006/relationships" id="259" r:id="R394649f7d67c4d4f"/>
    <p:sldId xmlns:r="http://schemas.openxmlformats.org/officeDocument/2006/relationships" id="260" r:id="R0ec77cb99f4944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9d4e839b3b405b" /><Relationship Type="http://schemas.openxmlformats.org/officeDocument/2006/relationships/slideMaster" Target="/ppt/slideMasters/slideMaster1.xml" Id="R0e15bbdf4ec84983" /><Relationship Type="http://schemas.openxmlformats.org/officeDocument/2006/relationships/notesMaster" Target="/ppt/notesMasters/notesMaster1.xml" Id="R4193b810d32c4571" /><Relationship Type="http://schemas.openxmlformats.org/officeDocument/2006/relationships/presProps" Target="/ppt/presProps.xml" Id="R117ac5f34a7d418e" /><Relationship Type="http://schemas.openxmlformats.org/officeDocument/2006/relationships/tableStyles" Target="/ppt/tableStyles.xml" Id="R40359ce42ff94c98" /><Relationship Type="http://schemas.openxmlformats.org/officeDocument/2006/relationships/slide" Target="/ppt/slides/slide1.xml" Id="Ref608db7b4b74999" /><Relationship Type="http://schemas.openxmlformats.org/officeDocument/2006/relationships/slide" Target="/ppt/slides/slide2.xml" Id="Rc88d71ca92f74045" /><Relationship Type="http://schemas.openxmlformats.org/officeDocument/2006/relationships/slide" Target="/ppt/slides/slide3.xml" Id="Raa14640ca30e4857" /><Relationship Type="http://schemas.openxmlformats.org/officeDocument/2006/relationships/slide" Target="/ppt/slides/slide4.xml" Id="R394649f7d67c4d4f" /><Relationship Type="http://schemas.openxmlformats.org/officeDocument/2006/relationships/slide" Target="/ppt/slides/slide5.xml" Id="R0ec77cb99f4944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4a12f08c4147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beb077600a4d9d" /><Relationship Type="http://schemas.openxmlformats.org/officeDocument/2006/relationships/notesMaster" Target="/ppt/notesMasters/notesMaster1.xml" Id="R4425d62d44494c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61e0123ab249cc" /><Relationship Type="http://schemas.openxmlformats.org/officeDocument/2006/relationships/notesMaster" Target="/ppt/notesMasters/notesMaster1.xml" Id="R697a8f27a7f149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ef4dc0d3fd484b" /><Relationship Type="http://schemas.openxmlformats.org/officeDocument/2006/relationships/notesMaster" Target="/ppt/notesMasters/notesMaster1.xml" Id="Re4f884f4a41d4e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054d052c7c44f7" /><Relationship Type="http://schemas.openxmlformats.org/officeDocument/2006/relationships/notesMaster" Target="/ppt/notesMasters/notesMaster1.xml" Id="R62b3aefbb5f8485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eb1919e4114ba1" /><Relationship Type="http://schemas.openxmlformats.org/officeDocument/2006/relationships/notesMaster" Target="/ppt/notesMasters/notesMaster1.xml" Id="R84bf00f8cb704c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e7a9e50a2d49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7398d03fe74aad" /><Relationship Type="http://schemas.openxmlformats.org/officeDocument/2006/relationships/slideLayout" Target="/ppt/slideLayouts/slideLayout1.xml" Id="R32c8870465eb46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c8870465eb46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1f7218637f488d" /><Relationship Type="http://schemas.openxmlformats.org/officeDocument/2006/relationships/notesSlide" Target="/ppt/notesSlides/notesSlide1.xml" Id="R13eaae252b6a40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3943b4c4e14e42" /><Relationship Type="http://schemas.openxmlformats.org/officeDocument/2006/relationships/notesSlide" Target="/ppt/notesSlides/notesSlide2.xml" Id="Rd368b23cbeab4c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5f4024b7d4426" /><Relationship Type="http://schemas.openxmlformats.org/officeDocument/2006/relationships/notesSlide" Target="/ppt/notesSlides/notesSlide3.xml" Id="R86188ac06de04b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cab3fb08e45ff" /><Relationship Type="http://schemas.openxmlformats.org/officeDocument/2006/relationships/notesSlide" Target="/ppt/notesSlides/notesSlide4.xml" Id="R00f1ef5c7cb345a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035196f21467f" /><Relationship Type="http://schemas.openxmlformats.org/officeDocument/2006/relationships/notesSlide" Target="/ppt/notesSlides/notesSlide5.xml" Id="Ra70e7efaf3b046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74EF77-4E51-499E-BCC8-F1783DE8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51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5132"/>
                </a:solidFill>
                <a:latin typeface="Helvetica Neue"/>
                <a:ea typeface="Helvetica Neue"/>
                <a:cs typeface="Helvetica Neue"/>
              </a:rPr>
              <a:t>HR-Ask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CF3B27-8878-4611-97F2-ABFB9AE9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970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39705A"/>
                </a:solidFill>
                <a:latin typeface="Helvetica Neue"/>
                <a:ea typeface="Helvetica Neue"/>
                <a:cs typeface="Helvetica Neue"/>
              </a:rPr>
              <a:t>HR-Ask  |  PE6201 course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183E7-F97F-40DD-B27B-62B8C919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970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39705A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7C201-FE27-4693-BC49-EAB3189F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3970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39705A"/>
                </a:solidFill>
                <a:latin typeface="Helvetica Neue"/>
                <a:ea typeface="Helvetica Neue"/>
                <a:cs typeface="Helvetica Neue"/>
              </a:rPr>
              <a:t>Evidence-based HR policy answers and safe request drafts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EC5336-5A02-44E8-ADF5-33605A95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12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3970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39705A"/>
                </a:solidFill>
                <a:latin typeface="Helvetica Neue"/>
                <a:ea typeface="Helvetica Neue"/>
                <a:cs typeface="Helvetica Neue"/>
              </a:rPr>
              <a:t>Live demo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CD910-3DE1-43CB-AE84-2D8AB6C8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5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53F32"/>
                </a:solidFill>
                <a:latin typeface="Helvetica Neue"/>
                <a:ea typeface="Helvetica Neue"/>
                <a:cs typeface="Helvetica Neue"/>
              </a:rPr>
              <a:t>Opening narration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C35C4-3E35-48AD-841A-61CC3D72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00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53F32"/>
                </a:solidFill>
                <a:latin typeface="Helvetica Neue"/>
                <a:ea typeface="Helvetica Neue"/>
                <a:cs typeface="Helvetica Neue"/>
              </a:rPr>
              <a:t>Hello, Professor. This is HR-Ask, my course project. It answers employee questions using fictional HR policies and prepares safe, unsubmitted request drafts.</a:t>
            </a:r>
          </a:p>
        </p:txBody>
      </p:sp>
    </p:spTree>
    <p:extLst>
      <p:ext uri="{BB962C8B-B14F-4D97-AF65-F5344CB8AC3E}">
        <p14:creationId xmlns:p14="http://schemas.microsoft.com/office/powerpoint/2010/main" val="13578938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D936F4-D8FF-4437-B283-E0B957E5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51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5132"/>
                </a:solidFill>
                <a:latin typeface="Helvetica Neue"/>
                <a:ea typeface="Helvetica Neue"/>
                <a:cs typeface="Helvetica Neue"/>
              </a:rPr>
              <a:t>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495562-FC35-418C-A611-E0D3AB2A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970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39705A"/>
                </a:solidFill>
                <a:latin typeface="Helvetica Neue"/>
                <a:ea typeface="Helvetica Neue"/>
                <a:cs typeface="Helvetica Neue"/>
              </a:rPr>
              <a:t>HR-Ask  |  PE6201 course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AEF433-A895-4F31-9BE7-F1271869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970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39705A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57AC52-ECA7-46AF-B2EC-037948D4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76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3F32"/>
                </a:solidFill>
                <a:latin typeface="Helvetica Neue"/>
                <a:ea typeface="Helvetica Neue"/>
                <a:cs typeface="Helvetica Neue"/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50A6E-9A5A-440A-B51D-B897103A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5732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53F32"/>
                </a:solidFill>
                <a:latin typeface="Helvetica Neue"/>
                <a:ea typeface="Helvetica Neue"/>
                <a:cs typeface="Helvetica Neue"/>
              </a:rPr>
              <a:t>A free-text employee question, with any available employee ID, request type, date, reason, and contact channel.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8BDD3-B034-43C5-8FC3-6E8114DF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3F32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4D53DB-4196-462D-A394-EE228F75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0982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53F32"/>
                </a:solidFill>
                <a:latin typeface="Helvetica Neue"/>
                <a:ea typeface="Helvetica Neue"/>
                <a:cs typeface="Helvetica Neue"/>
              </a:rPr>
              <a:t>The system retrieves relevant policy sections from the fictional local policy collection.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6B363E-B537-4721-BF82-6AC3FE5A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81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3F32"/>
                </a:solidFill>
                <a:latin typeface="Helvetica Neue"/>
                <a:ea typeface="Helvetica Neue"/>
                <a:cs typeface="Helvetica Neue"/>
              </a:rPr>
              <a:t>Routing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37514F-2477-4C7F-8D9A-1902FA68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6232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53F32"/>
                </a:solidFill>
                <a:latin typeface="Helvetica Neue"/>
                <a:ea typeface="Helvetica Neue"/>
                <a:cs typeface="Helvetica Neue"/>
              </a:rPr>
              <a:t>It returns a consultation, draft, clarification, or escalation decision.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8CB566-060B-42DC-98CA-FFC9080C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33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3F32"/>
                </a:solidFill>
                <a:latin typeface="Helvetica Neue"/>
                <a:ea typeface="Helvetica Neue"/>
                <a:cs typeface="Helvetica Neue"/>
              </a:rPr>
              <a:t>Draft safety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A0E1CA-3923-47D3-A188-40375719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1482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53F32"/>
                </a:solidFill>
                <a:latin typeface="Helvetica Neue"/>
                <a:ea typeface="Helvetica Neue"/>
                <a:cs typeface="Helvetica Neue"/>
              </a:rPr>
              <a:t>The system validates five fields, preserves missing values as null, and never submits or approves a request.</a:t>
            </a:r>
          </a:p>
        </p:txBody>
      </p:sp>
    </p:spTree>
    <p:extLst>
      <p:ext uri="{BB962C8B-B14F-4D97-AF65-F5344CB8AC3E}">
        <p14:creationId xmlns:p14="http://schemas.microsoft.com/office/powerpoint/2010/main" val="5556867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B3CF07-EAC7-482E-8CB4-A0F2F91F5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51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5132"/>
                </a:solidFill>
                <a:latin typeface="Helvetica Neue"/>
                <a:ea typeface="Helvetica Neue"/>
                <a:cs typeface="Helvetica Neue"/>
              </a:rPr>
              <a:t>Live application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B2000D-0F0F-4642-B7EF-D90ACCE0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970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39705A"/>
                </a:solidFill>
                <a:latin typeface="Helvetica Neue"/>
                <a:ea typeface="Helvetica Neue"/>
                <a:cs typeface="Helvetica Neue"/>
              </a:rPr>
              <a:t>HR-Ask  |  PE6201 course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FEF12F-CB3D-4988-87F6-FCD62DDF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970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39705A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67AEF9-46A0-41C6-ADA0-6900B755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76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3F32"/>
                </a:solidFill>
                <a:latin typeface="Helvetica Neue"/>
                <a:ea typeface="Helvetica Neue"/>
                <a:cs typeface="Helvetica Neue"/>
              </a:rPr>
              <a:t>Consultation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41D02D-4802-4EC2-B04B-EFFFCFEC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5732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53F32"/>
                </a:solidFill>
                <a:latin typeface="Helvetica Neue"/>
                <a:ea typeface="Helvetica Neue"/>
                <a:cs typeface="Helvetica Neue"/>
              </a:rPr>
              <a:t>Type 年假一年有几天？ and click Get response. Show the policy evidence and the absence of a ticket.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B42931-84D1-46B7-B02D-94EC1D8C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3F32"/>
                </a:solidFill>
                <a:latin typeface="Helvetica Neue"/>
                <a:ea typeface="Helvetica Neue"/>
                <a:cs typeface="Helvetica Neue"/>
              </a:rPr>
              <a:t>Complete draft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ADCFAB-0B3E-4C90-BDE5-93A062EC8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0982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53F32"/>
                </a:solidFill>
                <a:latin typeface="Helvetica Neue"/>
                <a:ea typeface="Helvetica Neue"/>
                <a:cs typeface="Helvetica Neue"/>
              </a:rPr>
              <a:t>Type 帮我申请年假，E1001，2026-10-15，原因：家庭安排；联系：email. Show the five-field draft.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CBEC53-702A-4EA7-B8F5-02447F79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81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3F32"/>
                </a:solidFill>
                <a:latin typeface="Helvetica Neue"/>
                <a:ea typeface="Helvetica Neue"/>
                <a:cs typeface="Helvetica Neue"/>
              </a:rPr>
              <a:t>Missing information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1B753-063B-4F68-BE48-ABE223D26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6232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53F32"/>
                </a:solidFill>
                <a:latin typeface="Helvetica Neue"/>
                <a:ea typeface="Helvetica Neue"/>
                <a:cs typeface="Helvetica Neue"/>
              </a:rPr>
              <a:t>Type 帮我申请补卡. Show that missing fields stay empty and the system asks for clarification.</a:t>
            </a:r>
          </a:p>
        </p:txBody>
      </p:sp>
    </p:spTree>
    <p:extLst>
      <p:ext uri="{BB962C8B-B14F-4D97-AF65-F5344CB8AC3E}">
        <p14:creationId xmlns:p14="http://schemas.microsoft.com/office/powerpoint/2010/main" val="1201338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EAB0B6-2631-444D-9D78-CAA1FFC4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51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5132"/>
                </a:solidFill>
                <a:latin typeface="Helvetica Neue"/>
                <a:ea typeface="Helvetica Neue"/>
                <a:cs typeface="Helvetica Neue"/>
              </a:rPr>
              <a:t>Evaluation and cost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BB5F4-77A7-4C5F-807B-DE8E4198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970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39705A"/>
                </a:solidFill>
                <a:latin typeface="Helvetica Neue"/>
                <a:ea typeface="Helvetica Neue"/>
                <a:cs typeface="Helvetica Neue"/>
              </a:rPr>
              <a:t>HR-Ask  |  PE6201 course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663FBC-650F-43AF-8FC7-3D156A98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970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39705A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722785-E0DA-4760-8D2D-FB516464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76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3F32"/>
                </a:solidFill>
                <a:latin typeface="Helvetica Neue"/>
                <a:ea typeface="Helvetica Neue"/>
                <a:cs typeface="Helvetica Neue"/>
              </a:rPr>
              <a:t>Ticket 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2574A5-009C-45F2-86FD-897BADA3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5732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53F32"/>
                </a:solidFill>
                <a:latin typeface="Helvetica Neue"/>
                <a:ea typeface="Helvetica Neue"/>
                <a:cs typeface="Helvetica Neue"/>
              </a:rPr>
              <a:t>8 of 8 draft cases produced valid five-field JSON with the correct request type.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41234-F7B0-4B26-A37D-1A9DF776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3F32"/>
                </a:solidFill>
                <a:latin typeface="Helvetica Neue"/>
                <a:ea typeface="Helvetica Neue"/>
                <a:cs typeface="Helvetica Neue"/>
              </a:rPr>
              <a:t>Completion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F58F9D-401F-4224-AF35-DC45CF53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0982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53F32"/>
                </a:solidFill>
                <a:latin typeface="Helvetica Neue"/>
                <a:ea typeface="Helvetica Neue"/>
                <a:cs typeface="Helvetica Neue"/>
              </a:rPr>
              <a:t>5 of 8 draft cases were complete on the first turn, so completion remains below the proposal target.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43F47E-2B1C-4050-9D20-C910EF3E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81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3F32"/>
                </a:solidFill>
                <a:latin typeface="Helvetica Neue"/>
                <a:ea typeface="Helvetica Neue"/>
                <a:cs typeface="Helvetica Neue"/>
              </a:rPr>
              <a:t>Answer quality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D42BD2-BE0F-4FDE-8764-8BED9673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6232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53F32"/>
                </a:solidFill>
                <a:latin typeface="Helvetica Neue"/>
                <a:ea typeface="Helvetica Neue"/>
                <a:cs typeface="Helvetica Neue"/>
              </a:rPr>
              <a:t>The retrospective AI-assisted review passed 22 of 25 answers. The manual student spot check passed 8 of 10.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A685AF-E63B-4C00-8DEF-8908802E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33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3F32"/>
                </a:solidFill>
                <a:latin typeface="Helvetica Neue"/>
                <a:ea typeface="Helvetica Neue"/>
                <a:cs typeface="Helvetica Neue"/>
              </a:rPr>
              <a:t>Variable model cost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35DBD6-21F9-449A-802B-457FDAA9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1482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53F32"/>
                </a:solidFill>
                <a:latin typeface="Helvetica Neue"/>
                <a:ea typeface="Helvetica Neue"/>
                <a:cs typeface="Helvetica Neue"/>
              </a:rPr>
              <a:t>The observed inference cost was USD 0.000144 per query. Human fallback and recurring rule maintenance remain separate costs.</a:t>
            </a:r>
          </a:p>
        </p:txBody>
      </p:sp>
    </p:spTree>
    <p:extLst>
      <p:ext uri="{BB962C8B-B14F-4D97-AF65-F5344CB8AC3E}">
        <p14:creationId xmlns:p14="http://schemas.microsoft.com/office/powerpoint/2010/main" val="11302373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4EEE6-3B06-4719-A77F-9B5115DB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F51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F5132"/>
                </a:solidFill>
                <a:latin typeface="Helvetica Neue"/>
                <a:ea typeface="Helvetica Neue"/>
                <a:cs typeface="Helvetica Neue"/>
              </a:rPr>
              <a:t>Closing and safety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415A9-0043-434D-ABD6-D9127FEB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970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39705A"/>
                </a:solidFill>
                <a:latin typeface="Helvetica Neue"/>
                <a:ea typeface="Helvetica Neue"/>
                <a:cs typeface="Helvetica Neue"/>
              </a:rPr>
              <a:t>HR-Ask  |  PE6201 course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1D870B-E11E-4963-85DA-E8145523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970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39705A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CE3DE8-1AB8-4826-8AAC-7B8276A6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76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3F32"/>
                </a:solidFill>
                <a:latin typeface="Helvetica Neue"/>
                <a:ea typeface="Helvetica Neue"/>
                <a:cs typeface="Helvetica Neue"/>
              </a:rPr>
              <a:t>Purpose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9592D-D9A0-4F9A-AE3D-C1A3C5EA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5732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53F32"/>
                </a:solidFill>
                <a:latin typeface="Helvetica Neue"/>
                <a:ea typeface="Helvetica Neue"/>
                <a:cs typeface="Helvetica Neue"/>
              </a:rPr>
              <a:t>HR-Ask is a course prototype using fictional data.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C1755-B1E2-465A-B2B2-E8B3BFA0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3F32"/>
                </a:solidFill>
                <a:latin typeface="Helvetica Neue"/>
                <a:ea typeface="Helvetica Neue"/>
                <a:cs typeface="Helvetica Neue"/>
              </a:rPr>
              <a:t>Human oversight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9F338-9B72-42A4-A86D-D7696ACD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0982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53F32"/>
                </a:solidFill>
                <a:latin typeface="Helvetica Neue"/>
                <a:ea typeface="Helvetica Neue"/>
                <a:cs typeface="Helvetica Neue"/>
              </a:rPr>
              <a:t>It does not make legal decisions, approve leave, submit requests, or handle sensitive disputes.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95C8C4-480D-4076-9394-4745C5E5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813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5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53F32"/>
                </a:solidFill>
                <a:latin typeface="Helvetica Neue"/>
                <a:ea typeface="Helvetica Neue"/>
                <a:cs typeface="Helvetica Neue"/>
              </a:rPr>
              <a:t>Escalation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E26E75-53B1-4A79-8811-B7A3FD8D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6232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5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53F32"/>
                </a:solidFill>
                <a:latin typeface="Helvetica Neue"/>
                <a:ea typeface="Helvetica Neue"/>
                <a:cs typeface="Helvetica Neue"/>
              </a:rPr>
              <a:t>Unsupported, sensitive, or low-evidence requests are referred to human HR staff.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38801B-A535-4824-8E30-4AECA4A2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48250"/>
            <a:ext cx="619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53F3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53F32"/>
                </a:solidFill>
                <a:latin typeface="Helvetica Neue"/>
                <a:ea typeface="Helvetica Neue"/>
                <a:cs typeface="Helvetica Neue"/>
              </a:rPr>
              <a:t>Thank you for watching.</a:t>
            </a:r>
          </a:p>
        </p:txBody>
      </p:sp>
    </p:spTree>
    <p:extLst>
      <p:ext uri="{BB962C8B-B14F-4D97-AF65-F5344CB8AC3E}">
        <p14:creationId xmlns:p14="http://schemas.microsoft.com/office/powerpoint/2010/main" val="14499438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2026-10-01T16:16:39.1830000Z</dcterms:created>
  <dcterms:modified xsi:type="dcterms:W3CDTF">2026-10-01T16:16:39.1830000Z</dcterms:modified>
</coreProperties>
</file>